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Herzlich willkommen. Dieses Projekt entwickelt einen Digitalen Schatten für den UR5-Roboter — live in AR, vollständig open-source, herstellerunabhängig.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die Ausgangssituation, die wir lösen. Ein Roboter fällt aus — und der zuständige Techniker kennt das Modell vielleicht gar nicht.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Systeme adressieren das Problem — aber immer nur für den eigenen Hersteller. Ein gemischter Fuhrpark braucht mehrere inkompatible Systeme. Das ist der Gap, den wir schließen.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sind die zwei konkreten technischen Anforderungen. Herstellerunabhängigkeit durch offenes Protokoll, und Live-AR durch Forward Kinematik.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sind die drei Kernziele — Dr. Di empfohlen als klare gestapelte Liste. Der Operator sieht den Fehler, weiß wo er ist, und bekommt eine Anleitung direkt im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der Bedienfluss aus Sicht des Technikers. Vier Schritte: ausrichten, erkennen, Overlay, Anleitung. Kein Vorwissen über das Modell nötig.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Architektur: UR5 → LAN → Router → Tailscale → Laptop (Bridge) + FH-Server (Experience Service) + iPad. Alle ab Router im Tailscale-Mesh. WebSocket 9090 für Live-Daten, Port 2019 für AR-Experience-Download.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das Ergebnis. Das virtuelle Skeleton überlagert den physischen Roboter. Tailscale verbindet iPad und Bridge-Laptop über VPN.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DH-Parameter sind hart in die Bridge und den JS-Client eingebaut. Die Basiskorrektur Rx(-90°) konvertiert das Z-up-Koordinatensystem des UR5 in das Y-up-System von Vuforia. Ohne diese Korrektur ist das Overlay um 90° verdreht.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RTDE ist das offizielle Echtzeit-Interface des UR5 — immer an, kein Setup nötig. Die Python-Bridge liest mit ur_rtde, packt alles als JSON und schickt es per WebSocket. Der Client in Vuforia View empfängt alle 150ms ein Paket.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Bridge ist selbst-gehostet. Das Dashboard zeigt Live-Daten und erlaubt Konfiguration ohne Neustart. Für die Demo: "Random Fehler" injiziert einen Fehler per Klick. Die Fehlerschwellwerte sind Demo-Werte — sie müssen für echten Einsatz kalibriert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die ehrliche Wahrheit über die Architektur-Änderung. OPC UA / Kepware / ThingWorx hat schlicht nie funktioniert. Python hat das Problem in einem Tag gelöst was Monate der Middleware nicht geschafft haben.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alle Kernziele wurden erreicht. Die Overlay-Positionierung wird noch verfeinert. Der OPC UA Stack wurde durch die offene Pipeline ersetzt — das war die richtige Entscheidung.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System ist in allen Kernpunkten konkurrenzfähig — und schlägt kommerzielle Lösungen in Offenheit, Kosten und Herstellerunabhängigkeit. Der Nachteil: keine Enterprise-Integration und manuelle Schwellwert-Kalibrierung.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wichtigsten nächsten Schritte. Multi-Hersteller beweist die Kernthese. Feldvalidierung zeigt ob es in der Praxis funktioniert. Tiefere Analytik macht es produktionsreif.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Ende. Fragen?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3A50">
              <a:alpha val="60000"/>
            </a:srgbClr>
          </a:solidFill>
          <a:ln w="12700">
            <a:solidFill>
              <a:srgbClr val="003A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ROBOTICS ENGINEERING  ·  SMART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AR-gestützte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Roboterwartung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84048" y="2670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Digitaler Schatten eines UR5 — live, offen, herstellerunabhängig.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3310128"/>
            <a:ext cx="2286000" cy="36576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34930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Rainhard Wipp · Felix Leonbacher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3767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MSc Robotics 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4005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Betreuer: Nikolaus Angel, MSc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4480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 O  &amp;  W H 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Roboter stoppt in einer Halle mit gemischtem Fuhrpark.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2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1719072"/>
            <a:ext cx="4206240" cy="22860"/>
          </a:xfrm>
          <a:prstGeom prst="rect">
            <a:avLst/>
          </a:prstGeom>
          <a:solidFill>
            <a:srgbClr val="2A344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8105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79222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hat Dienst — und kennt er dieses Robotermodell?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2615184"/>
            <a:ext cx="4206240" cy="22860"/>
          </a:xfrm>
          <a:prstGeom prst="rect">
            <a:avLst/>
          </a:prstGeom>
          <a:solidFill>
            <a:srgbClr val="2A344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7066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6883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genau steht der defekte Roboter in der Halle?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3511296"/>
            <a:ext cx="4206240" cy="22860"/>
          </a:xfrm>
          <a:prstGeom prst="rect">
            <a:avLst/>
          </a:prstGeom>
          <a:solidFill>
            <a:srgbClr val="2A344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6027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35844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kaputt — und wie wird es behoben?</a:t>
            </a:r>
            <a:endParaRPr lang="en-US" sz="1400" dirty="0"/>
          </a:p>
        </p:txBody>
      </p:sp>
      <p:pic>
        <p:nvPicPr>
          <p:cNvPr id="14" name="Image 0" descr="/home/claude/factory_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548640"/>
            <a:ext cx="3749040" cy="4114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029200" y="548640"/>
            <a:ext cx="457200" cy="4114800"/>
          </a:xfrm>
          <a:prstGeom prst="rect">
            <a:avLst/>
          </a:prstGeom>
          <a:solidFill>
            <a:srgbClr val="0B0D0F"/>
          </a:solidFill>
          <a:ln w="12700">
            <a:solidFill>
              <a:srgbClr val="0B0D0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T A T E  O F  T H E  A R 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93776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Markt beantwortet diese Fragen — je Hersteller separat.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3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KUKA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682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KUKA Connect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Cloud-Analytik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82112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82112" y="1682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82112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Fleet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0176" y="1417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0176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Siemens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0176" y="1682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MindSphere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80176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Industrial Cloud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633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H R E  G E M E I N S A M E N  S C H W Ä C H E 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 — </a:t>
            </a:r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Funktioniert nur mit Robotern desselben Herstellers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Gemischter Fuhrpark — </a:t>
            </a:r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getrennte, inkompatible Systeme nötig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2907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Proprietäre Middleware — </a:t>
            </a:r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Kostspielig, opak, schwer konfigurierbar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81728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Kosten — </a:t>
            </a:r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Enterprise-Lizenzen — für ein Labor ungeeignet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H E  G A 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30352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Herausforderungen — eine offene Lösung.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4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150876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6642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 und herstellerunabhängig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2907792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leichtgewichtiges System, das jeden Roboter ausliest — ohne Vendor Lock-in, ohne proprietäre Lizenz.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0016" y="150876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01184" y="16642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01184" y="2194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Live-Spiegel in Echtzeit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01184" y="2907792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3D-Modell, das die physische Stellung des Arms exakt spiegelt — Gelenk für Gelenk, live.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R O J E C T  G O A 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7548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offenes System — Digitaler Schatten des UR5.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5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1536192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1D2636"/>
          </a:solidFill>
          <a:ln w="6350">
            <a:solidFill>
              <a:srgbClr val="24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1572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erkennen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Motorstrom, Temperatur, Schleppfehler, Drehzahl — live überwacht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432304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1D2636"/>
          </a:solidFill>
          <a:ln w="6350">
            <a:solidFill>
              <a:srgbClr val="24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2468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Sichtbar machen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27797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Fehlerhafte Komponenten in AR direkt am Roboter rot hervorgehoben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328416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1D2636"/>
          </a:solidFill>
          <a:ln w="6350">
            <a:solidFill>
              <a:srgbClr val="24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 Reparatur führen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7552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Deutschsprachige Wartungsanleitung mit Ursache + Schrittliste eingeblendet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279392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A1A0F"/>
          </a:solidFill>
          <a:ln w="10160">
            <a:solidFill>
              <a:srgbClr val="7D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4279392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A1A0F"/>
          </a:solidFill>
          <a:ln w="10160">
            <a:solidFill>
              <a:srgbClr val="7D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ECHTZEIT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279392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A1A0F"/>
          </a:solidFill>
          <a:ln w="10160">
            <a:solidFill>
              <a:srgbClr val="7D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ROBOT-AGNOSTISCH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O W  T H E  O P E R A T O R  U S E S  I 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6 / 16</a:t>
            </a:r>
            <a:endParaRPr lang="en-US" sz="800" dirty="0"/>
          </a:p>
        </p:txBody>
      </p:sp>
      <p:pic>
        <p:nvPicPr>
          <p:cNvPr id="4" name="Image 0" descr="/home/claude/operator_photo_cr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0"/>
            <a:ext cx="548640" cy="5143500"/>
          </a:xfrm>
          <a:prstGeom prst="rect">
            <a:avLst/>
          </a:prstGeom>
          <a:solidFill>
            <a:srgbClr val="0B0D0F"/>
          </a:solidFill>
          <a:ln w="12700">
            <a:solidFill>
              <a:srgbClr val="0B0D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438912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der Fehlermeldung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 Reparatur.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84048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Ausrichten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1847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auf den Roboter halten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23042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Vuforia identifiziert den UR5 per 3D-Modell-Target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3054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96112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Überlagern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6112" y="3346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Digitaler Schatten verankert sich; Gelenke bewegen sich live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" y="38039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6112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Anleiten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" y="4096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leuchtet rot auf — Reparaturanleitung wird eingeblendet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4048" y="46634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KEIN HANDBUCH  ·  KEIN ANRUF  ·  KEIN RÄTSELRATEN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Y S T E M  A R C H I T E K T U 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technische Datenpipeline.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7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993392" y="1207008"/>
            <a:ext cx="6894576" cy="3063240"/>
          </a:xfrm>
          <a:prstGeom prst="roundRect">
            <a:avLst>
              <a:gd name="adj" fmla="val 2985"/>
            </a:avLst>
          </a:prstGeom>
          <a:solidFill>
            <a:srgbClr val="071420"/>
          </a:solidFill>
          <a:ln w="6350">
            <a:solidFill>
              <a:srgbClr val="00C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84832" y="1261872"/>
            <a:ext cx="6711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TAILSCALE VPN MESH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12064" y="1463040"/>
            <a:ext cx="1463040" cy="2560320"/>
          </a:xfrm>
          <a:prstGeom prst="roundRect">
            <a:avLst>
              <a:gd name="adj" fmla="val 5000"/>
            </a:avLst>
          </a:prstGeom>
          <a:solidFill>
            <a:srgbClr val="111820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572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ROBOT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12064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UR5 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2286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RTDE · ≤125 Hz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30004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192.168.1.237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75104" y="2743200"/>
            <a:ext cx="201168" cy="0"/>
          </a:xfrm>
          <a:prstGeom prst="line">
            <a:avLst/>
          </a:prstGeom>
          <a:noFill/>
          <a:ln w="15240">
            <a:solidFill>
              <a:srgbClr val="3A506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975104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176272" y="1463040"/>
            <a:ext cx="1463040" cy="2560320"/>
          </a:xfrm>
          <a:prstGeom prst="roundRect">
            <a:avLst>
              <a:gd name="adj" fmla="val 5000"/>
            </a:avLst>
          </a:prstGeom>
          <a:solidFill>
            <a:srgbClr val="141C2C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76272" y="1572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ROUTER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76272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Teltonika RUTX10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76272" y="2286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 192.168.1.0/24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76272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Tailscale-Node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39312" y="2743200"/>
            <a:ext cx="201168" cy="0"/>
          </a:xfrm>
          <a:prstGeom prst="line">
            <a:avLst/>
          </a:prstGeom>
          <a:noFill/>
          <a:ln w="15240">
            <a:solidFill>
              <a:srgbClr val="00C4E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639312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Tailscale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40480" y="1463040"/>
            <a:ext cx="1463040" cy="2560320"/>
          </a:xfrm>
          <a:prstGeom prst="roundRect">
            <a:avLst>
              <a:gd name="adj" fmla="val 5000"/>
            </a:avLst>
          </a:prstGeom>
          <a:solidFill>
            <a:srgbClr val="141C2C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1572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BRIDGE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Laptop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2286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 :9090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:8080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100.102.215.116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2743200"/>
            <a:ext cx="201168" cy="0"/>
          </a:xfrm>
          <a:prstGeom prst="line">
            <a:avLst/>
          </a:prstGeom>
          <a:noFill/>
          <a:ln w="15240">
            <a:solidFill>
              <a:srgbClr val="00C4E0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303520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/ Wi-Fi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504688" y="1463040"/>
            <a:ext cx="1463040" cy="2560320"/>
          </a:xfrm>
          <a:prstGeom prst="roundRect">
            <a:avLst>
              <a:gd name="adj" fmla="val 5000"/>
            </a:avLst>
          </a:prstGeom>
          <a:solidFill>
            <a:srgbClr val="141C2C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04688" y="1572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SERVER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04688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FH-Server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2286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 Service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04688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http://10.129.50.53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04688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:2019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67728" y="2743200"/>
            <a:ext cx="201168" cy="0"/>
          </a:xfrm>
          <a:prstGeom prst="line">
            <a:avLst/>
          </a:prstGeom>
          <a:noFill/>
          <a:ln w="15240">
            <a:solidFill>
              <a:srgbClr val="00C4E0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967728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Tailscale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7168896" y="1463040"/>
            <a:ext cx="1463040" cy="2560320"/>
          </a:xfrm>
          <a:prstGeom prst="roundRect">
            <a:avLst>
              <a:gd name="adj" fmla="val 5000"/>
            </a:avLst>
          </a:prstGeom>
          <a:solidFill>
            <a:srgbClr val="141C2C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168896" y="1572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CLIENT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68896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/ Vuforia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68896" y="2286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App (kostenlos)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68896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WebSocket-Client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68896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 Overlay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4048" y="42976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DATENPIPELINE  ·  AR via Vuforia View (kostenlos, PTC)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_photo_cr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731520" cy="5143500"/>
          </a:xfrm>
          <a:prstGeom prst="rect">
            <a:avLst/>
          </a:prstGeom>
          <a:solidFill>
            <a:srgbClr val="0B0D0F"/>
          </a:solidFill>
          <a:ln w="12700">
            <a:solidFill>
              <a:srgbClr val="0B0D0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R O J E C T  O U T P U 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4048" y="54864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Live-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Digitaler Schatten.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84048" y="22860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generisches Roboter-Skeleton (14 Teile) wird live über den physischen UR5 gelegt. </a:t>
            </a:r>
            <a:pPr indent="0" marL="0">
              <a:buNone/>
            </a:pPr>
            <a:r>
              <a:rPr lang="en-US" sz="13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der 6 Gelenke bewegt sich synchron zum echten Roboter — berechnet per DH-Forward-Kinematik aus den RTDE-Gelenkwinkeln.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8 / 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14800" y="4828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AR-Overlay in Vuforia View  ·  FHTW Robotiklabor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O R W A R D  K I N E M A T I 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DH-Parameter und Koordinatentransformation.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9 / 16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34440"/>
          <a:ext cx="457200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100584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Gelenk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(m)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 (rad)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(Basis)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π/2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(Schulter)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−0.425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(Ellbogen)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−0.3922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(HG 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0.1333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π/2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(HG 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0.0997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−π/2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(Flansch)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0.0996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C4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66360" y="123444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Gelenk-Matrix: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166360" y="1517904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T_i = Rz(θ) · Tz(d) · Tx(a) · Rx(α)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66360" y="1801368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66360" y="2084832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Gesamttransformation: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66360" y="2368296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T_BASE · T₁ · T₂ · T₃ · T₄ · T₅ · T₆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6360" y="265176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6360" y="2935224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Basiskorrektur (Z-up → Y-up):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66360" y="3218688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T_BASE = Rx(−90°)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66360" y="3502152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66360" y="3785616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Skeleton: 14 Teile — Positionen als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66360" y="406908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Weltkoordinaten → kein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66360" y="4352544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Szenegraph nötig.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A T A  P A T 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7548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offene RTDE-Datenpipeline.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10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1261872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0078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Hz · Port 30004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192.168.1.237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kein URCap nötig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12848" y="2016252"/>
            <a:ext cx="164592" cy="0"/>
          </a:xfrm>
          <a:prstGeom prst="line">
            <a:avLst/>
          </a:prstGeom>
          <a:noFill/>
          <a:ln w="15240">
            <a:solidFill>
              <a:srgbClr val="00C4E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261872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Bridge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50592" y="170078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ur_rtde Library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Fehlerauswertung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JSON-Serialisierung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0" y="2016252"/>
            <a:ext cx="164592" cy="0"/>
          </a:xfrm>
          <a:prstGeom prst="line">
            <a:avLst/>
          </a:prstGeom>
          <a:noFill/>
          <a:ln w="15240">
            <a:solidFill>
              <a:srgbClr val="00C4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0832" y="1261872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70832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3984" y="170078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Hz · Port 9090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ws://100.102.215.116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offenes Protokoll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2016252"/>
            <a:ext cx="164592" cy="0"/>
          </a:xfrm>
          <a:prstGeom prst="line">
            <a:avLst/>
          </a:prstGeom>
          <a:noFill/>
          <a:ln w="15240">
            <a:solidFill>
              <a:srgbClr val="00C4E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1261872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4224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Vuforia 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1700784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$interval 150 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applyFK() + Highlight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iPad / iOS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29260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4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E B S O C K E T  P A Y L O A D  ·  1 0  H Z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" y="3145536"/>
            <a:ext cx="5029200" cy="987552"/>
          </a:xfrm>
          <a:prstGeom prst="roundRect">
            <a:avLst>
              <a:gd name="adj" fmla="val 5556"/>
            </a:avLst>
          </a:prstGeom>
          <a:solidFill>
            <a:srgbClr val="070C12"/>
          </a:solidFill>
          <a:ln w="635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82112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"seq": 1234,  "timestamp": 42.13,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314700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"q": [j1..j6],         // Gelenkwinkel [rad]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3447288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"joint_current": [...], // Motorströme [A]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3579876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"joint_temp": [...],    // Temperaturen [°C]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0352" y="3712464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"follow_err": [...],    // Schleppfehler [rad]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" y="3845052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"faults": [...],        // Aktive Fehler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" y="3977640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"identity": {...} }     // Roboter-Metadaten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778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RTDE — immer aktiv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Port 30004 permanent aktiv — kein URCap nötig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37124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Konfigurierbare Frequenz bis 125 Hz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77840" y="41330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Signale: q, qd, TCP, Strom, Temp, Safety Mode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77840" y="45537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Python: ur_rtde (open source)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H E  B R I D G 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7548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UR5 Bridge — Fehlerüberwachung.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11 / 16</a:t>
            </a:r>
            <a:endParaRPr lang="en-US" sz="800" dirty="0"/>
          </a:p>
        </p:txBody>
      </p:sp>
      <p:pic>
        <p:nvPicPr>
          <p:cNvPr id="5" name="Image 0" descr="/home/claude/SMART-main/UR5Bri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261872"/>
            <a:ext cx="4572000" cy="2450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6360" y="1170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E H L E R S C H W E L L W E R T E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353312"/>
          <a:ext cx="3749040" cy="214884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749808"/>
                <a:gridCol w="713232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Fehler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Signal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Fault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Überstrom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joint_current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A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 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3.5 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Übertemp.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joint_temp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A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 °C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 °C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Schleppfehler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follow_err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A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 mrad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 mrad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Überdrehzahl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A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 r/s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 r/s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E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Schutzstopp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7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safety_mode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A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166360" y="36576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Live-Konfiguration via HTTP-Dashboard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166360" y="4069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Manueller Fehler-Trigger (Demo)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995160" y="36576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Automatische Fehlererkennung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995160" y="4069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config.yaml — hot-reloadbar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84048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App-Zustände: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84048" y="4096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  → overview: Skeleton bunt, alle Teile sichtbar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 → fault: Nicht-betroffene Teile 22% Deckkraft, Fehler rot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R O G R E S S  S E I T  D E R  L E T Z T E N  A B G A B 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sich geändert hat.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12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1371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0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O R H E R  —  P R O P R I E T Ä R E R  S T A C 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4048" y="1609344"/>
            <a:ext cx="3749040" cy="2651760"/>
          </a:xfrm>
          <a:prstGeom prst="roundRect">
            <a:avLst>
              <a:gd name="adj" fmla="val 2759"/>
            </a:avLst>
          </a:prstGeom>
          <a:solidFill>
            <a:srgbClr val="1A0C0C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373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  →  Kepware  →  ThingWorx  →  Vuforia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Hat nie funktioniert — keine stabile Verbindung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8833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Dokumentation unvollständig, kaum Betreuung möglich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Wochenlange Arbeit ohne verwertbares Ergebnis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393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Proprietär, lizenzpflichtig, Black Box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5968" y="2944368"/>
            <a:ext cx="512064" cy="0"/>
          </a:xfrm>
          <a:prstGeom prst="line">
            <a:avLst/>
          </a:prstGeom>
          <a:noFill/>
          <a:ln w="25400">
            <a:solidFill>
              <a:srgbClr val="7DC83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10912" y="1371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E U T E  —  O F F E N E  P I P E L I N 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10912" y="1609344"/>
            <a:ext cx="3749040" cy="2651760"/>
          </a:xfrm>
          <a:prstGeom prst="roundRect">
            <a:avLst>
              <a:gd name="adj" fmla="val 2759"/>
            </a:avLst>
          </a:prstGeom>
          <a:solidFill>
            <a:srgbClr val="0C1A0C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17373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RTDE  →  Python  →  WebSocket  →  Vuforia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21284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 einem Tag funktionsfähig — läuft stabil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68833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Vollständig open source, selbst gehostet, kostenlos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1638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Vollständiger Quellcode, reproduzierbar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6393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Herstellerunabhängig via DH-Parameter-Tausch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E S U L T S  —  W A S  F U N K T I O N I E R 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13 / 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048" y="12984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AR-Overlay live auf dem physischen UR5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8836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Datenpipeline RTDE → WebSocket → Vuforia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Tailscale-Netzwerk (iPad, Laptop, Router, FH-Server)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3054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Kinematik — DH-Parameter, Y-up-Konversion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6393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Fehlervisualisierung (Rot-Highlight + Dimming 22 %)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2984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11496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Fehler-Trigger &amp; Echtzeit-Erkennung via Bridge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8836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11496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Deutschsprachige Wartungsanleitung in AR (6 Typen)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468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DC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11496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Bridge-Dashboard (Monitoring, Konfig, Live-Paket)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1496" y="3054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Overlay-Feinpositionierung — Kalibrierung laufend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6393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11496" y="3639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/ Kepware / ThingWorx — ersetzt durch offene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S .  S T A T E  O F  T H E  A R 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Gemessen am Markt.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14 / 16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25880"/>
          <a:ext cx="8321040" cy="324612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200400"/>
              </a:tblGrid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Kommerziell (KUKA / ABB / Siemens)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Dieses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7C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Einzelner Hersteller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DC8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Herstellerunabhängig (DH-Tabelle)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7C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Proprietär, lizenzpflichtig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DC8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Source (ur_rtde, websockets)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7C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Enterprise-Lizenz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DC8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Kostenlos — selbst gehostet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7C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DC8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Vollständig offen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EE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AR-Plattform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A7C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Herstellerspezifisch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DC8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Vuforia View (kostenlos, PTC)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H A T  N O W  —  A U S B L I C 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502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 TECHNIKUM WIEN · SMANP SS2026        15 / 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572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85216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Multi-Hersteller-Test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" y="27889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ABB, KUKA oder Fanuc neben dem UR5 — die Herstellerunabhängigkeit durch DH-Parameter-Tausch validieren.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4173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9584" y="1572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9584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Feldvalidierung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9584" y="27889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Erkennungsgeschwindigkeit, Overlay-Genauigkeit und Bedienbarkeit mit echten Servicetechnikern auf dem Shopfloor testen.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14173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41A24"/>
          </a:solidFill>
          <a:ln w="635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572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Tiefere Fehleranalyse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27889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Schwellwerte kalibrieren (Logging + Statistik), Predictive-Maintenance-Logik und Fehlerhistorie (InfluxDB) ergänzen.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003A50">
              <a:alpha val="50000"/>
            </a:srgbClr>
          </a:solidFill>
          <a:ln w="12700">
            <a:solidFill>
              <a:srgbClr val="003A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7DC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 - A S S I S T E D  R O B O T  M A I N T E N A N C 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A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00C4E0"/>
          </a:solidFill>
          <a:ln w="12700">
            <a:solidFill>
              <a:srgbClr val="00C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Rainhard Wipp · Felix Leonbacher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502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MSc Robotics Engineering  ·  FH Technikum Wien  · 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C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Betreuer: Nikolaus Angel, MSc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AR-gestützte Roboterwartung — SMANP 2026</dc:title>
  <dc:subject>PptxGenJS Presentation</dc:subject>
  <dc:creator>Rainhard Wipp, Felix Leonbacher</dc:creator>
  <cp:lastModifiedBy>Rainhard Wipp, Felix Leonbacher</cp:lastModifiedBy>
  <cp:revision>1</cp:revision>
  <dcterms:created xsi:type="dcterms:W3CDTF">2026-06-25T14:17:53Z</dcterms:created>
  <dcterms:modified xsi:type="dcterms:W3CDTF">2026-06-25T14:17:53Z</dcterms:modified>
</cp:coreProperties>
</file>